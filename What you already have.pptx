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106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627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107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56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949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59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77708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806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7851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244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649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94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07439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914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944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974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99160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7647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6172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2677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1926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66597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21884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7218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948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597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9571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96E0-7966-F9D4-3D7D-E8EA1BC14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AAB2B-8C2F-4C95-4A63-628C1F55E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6D146-FCD8-69D7-BC33-E2CB1D82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5C9D7-2BFB-3C04-3BB9-255B2A46F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640DC-C509-DDB9-065A-E5CFB8FD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007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2874930-0540-4B15-A847-BBDFBA2DF18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E9ADDEA3-6375-43CA-9878-7556248F5EB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0085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DC8C7D-CC30-0049-66DF-745D8E866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Arial Black" panose="020B0A04020102020204" pitchFamily="34" charset="0"/>
              </a:rPr>
              <a:t>What you already have?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04A933-E4C7-C9DA-9290-89B10718732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IN" sz="3600" dirty="0">
                <a:solidFill>
                  <a:srgbClr val="00B050"/>
                </a:solidFill>
                <a:latin typeface="Arial Black" panose="020B0A04020102020204" pitchFamily="34" charset="0"/>
              </a:rPr>
              <a:t>Domain expertise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IN" sz="3600" dirty="0">
                <a:solidFill>
                  <a:srgbClr val="00B050"/>
                </a:solidFill>
                <a:latin typeface="Arial Black" panose="020B0A04020102020204" pitchFamily="34" charset="0"/>
              </a:rPr>
              <a:t>Leadership experience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IN" sz="3600" dirty="0">
                <a:solidFill>
                  <a:srgbClr val="00B050"/>
                </a:solidFill>
                <a:latin typeface="Arial Black" panose="020B0A04020102020204" pitchFamily="34" charset="0"/>
              </a:rPr>
              <a:t>Knowledge of real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116893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7E6B48-E253-BDC6-0E5A-F1E02E38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“</a:t>
            </a:r>
            <a:r>
              <a:rPr lang="en-IN" dirty="0">
                <a:solidFill>
                  <a:srgbClr val="FFFF00"/>
                </a:solidFill>
              </a:rPr>
              <a:t>Your goal is not to compete with a fresher trying to become an ML engineer.”</a:t>
            </a:r>
          </a:p>
        </p:txBody>
      </p:sp>
    </p:spTree>
    <p:extLst>
      <p:ext uri="{BB962C8B-B14F-4D97-AF65-F5344CB8AC3E}">
        <p14:creationId xmlns:p14="http://schemas.microsoft.com/office/powerpoint/2010/main" val="104510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8C87-A756-280C-172D-7286DD2E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59CFA9-B84F-D9D5-1AA7-4709449E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Arial Black" panose="020B0A04020102020204" pitchFamily="34" charset="0"/>
              </a:rPr>
              <a:t>You Tell me: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3B6844-7C28-B548-6479-399BFF543A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pPr marL="742950" lvl="0" indent="-742950">
              <a:buFont typeface="+mj-lt"/>
              <a:buAutoNum type="arabicPeriod"/>
            </a:pPr>
            <a:r>
              <a:rPr lang="en-IN" sz="3600" dirty="0"/>
              <a:t>What exactly do you manage in the Reservations &amp; Connectivity Centre?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3600" dirty="0"/>
              <a:t>What repetitive tasks consume your team's time?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3600" dirty="0"/>
              <a:t>What reports/dashboards do you create?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3600" dirty="0"/>
              <a:t>What systems do you work with? PMS, CRS, channel manager, CRM, Excel, etc.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3600" dirty="0"/>
              <a:t>What problems do you currently wish technology could solve?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IN" sz="36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361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7811-70BD-3A98-25FF-FEC18B2D1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11703435" cy="731520"/>
          </a:xfrm>
        </p:spPr>
        <p:txBody>
          <a:bodyPr>
            <a:no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Path 1 — AI/Automation Business Leader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5AAE-5244-CDF6-BE72-5EC27F6D063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Hospitality domain + AI + automation + data</a:t>
            </a:r>
          </a:p>
          <a:p>
            <a:r>
              <a:rPr lang="en-IN" sz="2800" dirty="0"/>
              <a:t>Learn to:</a:t>
            </a:r>
          </a:p>
          <a:p>
            <a:r>
              <a:rPr lang="en-IN" sz="2800" b="1" dirty="0">
                <a:solidFill>
                  <a:srgbClr val="92D050"/>
                </a:solidFill>
              </a:rPr>
              <a:t>Identify problem → understand data → design solution → build prototype → automate → measure business impact</a:t>
            </a:r>
          </a:p>
          <a:p>
            <a:endParaRPr lang="en-IN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69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DC24-0A02-87A6-BB26-914DADF2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10926687" cy="73152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Path 2 — AI/Automation Solution Builder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D8C0E-58AF-184A-8797-DA36C10F54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They become more technically hands-on: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10000"/>
                    <a:lumOff val="90000"/>
                  </a:schemeClr>
                </a:solidFill>
                <a:highlight>
                  <a:srgbClr val="0000FF"/>
                </a:highlight>
                <a:latin typeface="Arial Rounded MT Bold" panose="020F0704030504030204" pitchFamily="34" charset="0"/>
              </a:rPr>
              <a:t>Python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10000"/>
                    <a:lumOff val="90000"/>
                  </a:schemeClr>
                </a:solidFill>
                <a:highlight>
                  <a:srgbClr val="0000FF"/>
                </a:highlight>
                <a:latin typeface="Arial Rounded MT Bold" panose="020F0704030504030204" pitchFamily="34" charset="0"/>
              </a:rPr>
              <a:t>APIs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10000"/>
                    <a:lumOff val="90000"/>
                  </a:schemeClr>
                </a:solidFill>
                <a:highlight>
                  <a:srgbClr val="0000FF"/>
                </a:highlight>
                <a:latin typeface="Arial Rounded MT Bold" panose="020F0704030504030204" pitchFamily="34" charset="0"/>
              </a:rPr>
              <a:t>SQL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10000"/>
                    <a:lumOff val="90000"/>
                  </a:schemeClr>
                </a:solidFill>
                <a:highlight>
                  <a:srgbClr val="0000FF"/>
                </a:highlight>
                <a:latin typeface="Arial Rounded MT Bold" panose="020F0704030504030204" pitchFamily="34" charset="0"/>
              </a:rPr>
              <a:t>Power Automate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10000"/>
                    <a:lumOff val="90000"/>
                  </a:schemeClr>
                </a:solidFill>
                <a:highlight>
                  <a:srgbClr val="0000FF"/>
                </a:highlight>
                <a:latin typeface="Arial Rounded MT Bold" panose="020F0704030504030204" pitchFamily="34" charset="0"/>
              </a:rPr>
              <a:t>AI APIs/LLMs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 err="1">
                <a:solidFill>
                  <a:schemeClr val="bg2">
                    <a:lumMod val="10000"/>
                    <a:lumOff val="90000"/>
                  </a:schemeClr>
                </a:solidFill>
                <a:highlight>
                  <a:srgbClr val="0000FF"/>
                </a:highlight>
                <a:latin typeface="Arial Rounded MT Bold" panose="020F0704030504030204" pitchFamily="34" charset="0"/>
              </a:rPr>
              <a:t>LangChain</a:t>
            </a:r>
            <a:r>
              <a:rPr lang="en-IN" dirty="0">
                <a:solidFill>
                  <a:schemeClr val="bg2">
                    <a:lumMod val="10000"/>
                    <a:lumOff val="90000"/>
                  </a:schemeClr>
                </a:solidFill>
                <a:highlight>
                  <a:srgbClr val="0000FF"/>
                </a:highlight>
                <a:latin typeface="Arial Rounded MT Bold" panose="020F0704030504030204" pitchFamily="34" charset="0"/>
              </a:rPr>
              <a:t>/agentic workflows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10000"/>
                    <a:lumOff val="90000"/>
                  </a:schemeClr>
                </a:solidFill>
                <a:highlight>
                  <a:srgbClr val="0000FF"/>
                </a:highlight>
                <a:latin typeface="Arial Rounded MT Bold" panose="020F0704030504030204" pitchFamily="34" charset="0"/>
              </a:rPr>
              <a:t>Databases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10000"/>
                    <a:lumOff val="90000"/>
                  </a:schemeClr>
                </a:solidFill>
                <a:highlight>
                  <a:srgbClr val="0000FF"/>
                </a:highlight>
                <a:latin typeface="Arial Rounded MT Bold" panose="020F0704030504030204" pitchFamily="34" charset="0"/>
              </a:rPr>
              <a:t>Basic cloud/deployment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27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5A15-7943-6DCA-F424-0B8E7FB6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Path 3 — Data/BI 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F11E-226A-458B-3760-CB771A528C7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sz="32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SQL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2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Power BI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2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Python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2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statistics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2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forecasting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2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business analytics</a:t>
            </a:r>
          </a:p>
        </p:txBody>
      </p:sp>
    </p:spTree>
    <p:extLst>
      <p:ext uri="{BB962C8B-B14F-4D97-AF65-F5344CB8AC3E}">
        <p14:creationId xmlns:p14="http://schemas.microsoft.com/office/powerpoint/2010/main" val="214995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008227-E228-2DFF-0E84-3D1A2D79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🐍 Layer 1: Python for AI &amp; Automation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73727-5768-1AF6-E5B1-783A1A29A6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376516"/>
            <a:ext cx="11402568" cy="5024284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Arial Black" panose="020B0A04020102020204" pitchFamily="34" charset="0"/>
              </a:rPr>
              <a:t>Python Fundamentals + OOP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Arial Black" panose="020B0A04020102020204" pitchFamily="34" charset="0"/>
              </a:rPr>
              <a:t>File Handling + JSON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Arial Black" panose="020B0A04020102020204" pitchFamily="34" charset="0"/>
              </a:rPr>
              <a:t>APIs + requests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Arial Black" panose="020B0A04020102020204" pitchFamily="34" charset="0"/>
              </a:rPr>
              <a:t>Pandas + NumPy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Arial Black" panose="020B0A04020102020204" pitchFamily="34" charset="0"/>
              </a:rPr>
              <a:t>Git/GitHub </a:t>
            </a:r>
          </a:p>
          <a:p>
            <a:r>
              <a:rPr lang="en-IN" b="1" dirty="0">
                <a:latin typeface="Arial Black" panose="020B0A04020102020204" pitchFamily="34" charset="0"/>
              </a:rPr>
              <a:t>Goal: Build practical AI &amp; automation solutions.</a:t>
            </a:r>
          </a:p>
          <a:p>
            <a:r>
              <a:rPr lang="en-IN" sz="2400" b="1" dirty="0"/>
              <a:t>📊 Layer 2: Data &amp; BI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rial Black" panose="020B0A04020102020204" pitchFamily="34" charset="0"/>
              </a:rPr>
              <a:t>SQL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rial Black" panose="020B0A04020102020204" pitchFamily="34" charset="0"/>
              </a:rPr>
              <a:t>Pandas &amp; Data Cleaning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rial Black" panose="020B0A04020102020204" pitchFamily="34" charset="0"/>
              </a:rPr>
              <a:t>Basic Statistics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rial Black" panose="020B0A04020102020204" pitchFamily="34" charset="0"/>
              </a:rPr>
              <a:t>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94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FB8E6-5AAE-8739-6D96-20C348EEF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Arial Black" panose="020B0A04020102020204" pitchFamily="34" charset="0"/>
              </a:rPr>
              <a:t>AI +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8C96C-6F13-F00F-9250-4F30DDBAA0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3626" y="1573161"/>
            <a:ext cx="11330694" cy="4827639"/>
          </a:xfrm>
        </p:spPr>
        <p:txBody>
          <a:bodyPr>
            <a:noAutofit/>
          </a:bodyPr>
          <a:lstStyle/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Python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   ↓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APIs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   ↓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LLM API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   ↓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AI Application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   ↓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RAG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   ↓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AI Agent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   ↓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Business Automation</a:t>
            </a:r>
          </a:p>
        </p:txBody>
      </p:sp>
    </p:spTree>
    <p:extLst>
      <p:ext uri="{BB962C8B-B14F-4D97-AF65-F5344CB8AC3E}">
        <p14:creationId xmlns:p14="http://schemas.microsoft.com/office/powerpoint/2010/main" val="4267858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6218-801C-A95C-87E7-B4F56B3E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B3C32-B16C-C7AC-B0CE-57FC744E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Arial Black" panose="020B0A04020102020204" pitchFamily="34" charset="0"/>
              </a:rPr>
              <a:t>AI Reservation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A37EE-1F48-06E2-D36E-83ECB955F1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3626" y="1573161"/>
            <a:ext cx="11330694" cy="4827639"/>
          </a:xfrm>
        </p:spPr>
        <p:txBody>
          <a:bodyPr>
            <a:noAutofit/>
          </a:bodyPr>
          <a:lstStyle/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Guest request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      ↓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AI understands request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      ↓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Checks availability/API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      ↓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Suggests rooms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      ↓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Generates response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      ↓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Human approval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      ↓</a:t>
            </a:r>
          </a:p>
          <a:p>
            <a:pPr algn="ctr"/>
            <a:r>
              <a:rPr lang="en-IN" sz="1200" dirty="0">
                <a:solidFill>
                  <a:srgbClr val="FF0000"/>
                </a:solidFill>
                <a:latin typeface="Arial Black" panose="020B0A04020102020204" pitchFamily="34" charset="0"/>
              </a:rPr>
              <a:t>Reservation workflow</a:t>
            </a:r>
          </a:p>
        </p:txBody>
      </p:sp>
    </p:spTree>
    <p:extLst>
      <p:ext uri="{BB962C8B-B14F-4D97-AF65-F5344CB8AC3E}">
        <p14:creationId xmlns:p14="http://schemas.microsoft.com/office/powerpoint/2010/main" val="3825431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8088C-9F3B-0646-51C0-04F29980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Arial Black" panose="020B0A04020102020204" pitchFamily="34" charset="0"/>
              </a:rPr>
              <a:t>Practical Project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E62B0-0C6F-9840-43EB-3E3DC3A06D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IN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Hospitality Analytics Dashboard</a:t>
            </a:r>
            <a:br>
              <a:rPr lang="en-IN" sz="2000" dirty="0">
                <a:latin typeface="Arial Black" panose="020B0A04020102020204" pitchFamily="34" charset="0"/>
              </a:rPr>
            </a:br>
            <a:r>
              <a:rPr lang="en-IN" sz="2000" dirty="0">
                <a:latin typeface="Arial Black" panose="020B0A04020102020204" pitchFamily="34" charset="0"/>
              </a:rPr>
              <a:t>Python + SQL + Power BI</a:t>
            </a:r>
            <a:br>
              <a:rPr lang="en-IN" sz="2000" dirty="0">
                <a:latin typeface="Arial Black" panose="020B0A04020102020204" pitchFamily="34" charset="0"/>
              </a:rPr>
            </a:br>
            <a:r>
              <a:rPr lang="en-IN" sz="2000" dirty="0">
                <a:latin typeface="Arial Black" panose="020B0A04020102020204" pitchFamily="34" charset="0"/>
              </a:rPr>
              <a:t>→ Occupancy | Revenue | Cancellation | Booking Trends</a:t>
            </a:r>
          </a:p>
          <a:p>
            <a:endParaRPr lang="en-IN" sz="2000" dirty="0">
              <a:latin typeface="Arial Black" panose="020B0A04020102020204" pitchFamily="34" charset="0"/>
            </a:endParaRPr>
          </a:p>
          <a:p>
            <a:r>
              <a:rPr lang="en-IN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2. Hotel SOP / Policy AI Assistant</a:t>
            </a:r>
            <a:br>
              <a:rPr lang="en-IN" sz="2000" dirty="0">
                <a:latin typeface="Arial Black" panose="020B0A04020102020204" pitchFamily="34" charset="0"/>
              </a:rPr>
            </a:br>
            <a:r>
              <a:rPr lang="en-IN" sz="2000" dirty="0">
                <a:latin typeface="Arial Black" panose="020B0A04020102020204" pitchFamily="34" charset="0"/>
              </a:rPr>
              <a:t>LLM + RAG</a:t>
            </a:r>
            <a:br>
              <a:rPr lang="en-IN" sz="2000" dirty="0">
                <a:latin typeface="Arial Black" panose="020B0A04020102020204" pitchFamily="34" charset="0"/>
              </a:rPr>
            </a:br>
            <a:r>
              <a:rPr lang="en-IN" sz="2000" dirty="0">
                <a:latin typeface="Arial Black" panose="020B0A04020102020204" pitchFamily="34" charset="0"/>
              </a:rPr>
              <a:t>→ Ask questions → Retrieve hotel documents → Get accurate answers</a:t>
            </a:r>
          </a:p>
          <a:p>
            <a:endParaRPr lang="en-IN" sz="2000" dirty="0">
              <a:latin typeface="Arial Black" panose="020B0A04020102020204" pitchFamily="34" charset="0"/>
            </a:endParaRPr>
          </a:p>
          <a:p>
            <a:r>
              <a:rPr lang="en-IN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3. AI Reservation Copilot</a:t>
            </a:r>
            <a:br>
              <a:rPr lang="en-IN" sz="2000" dirty="0">
                <a:latin typeface="Arial Black" panose="020B0A04020102020204" pitchFamily="34" charset="0"/>
              </a:rPr>
            </a:br>
            <a:r>
              <a:rPr lang="en-IN" sz="2000" dirty="0">
                <a:latin typeface="Arial Black" panose="020B0A04020102020204" pitchFamily="34" charset="0"/>
              </a:rPr>
              <a:t>Python + AI + APIs + Automation</a:t>
            </a:r>
            <a:br>
              <a:rPr lang="en-IN" sz="2000" dirty="0">
                <a:latin typeface="Arial Black" panose="020B0A04020102020204" pitchFamily="34" charset="0"/>
              </a:rPr>
            </a:br>
            <a:r>
              <a:rPr lang="en-IN" sz="2000" dirty="0">
                <a:latin typeface="Arial Black" panose="020B0A04020102020204" pitchFamily="34" charset="0"/>
              </a:rPr>
              <a:t>→ Extract booking details → Validate → Automate reservation workflow</a:t>
            </a:r>
          </a:p>
          <a:p>
            <a:r>
              <a:rPr lang="en-IN" sz="2000" b="1" dirty="0">
                <a:solidFill>
                  <a:srgbClr val="00B050"/>
                </a:solidFill>
                <a:latin typeface="Arial Black" panose="020B0A04020102020204" pitchFamily="34" charset="0"/>
              </a:rPr>
              <a:t>Final Goal:</a:t>
            </a:r>
            <a:r>
              <a:rPr lang="en-IN" sz="2000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IN" sz="2000" dirty="0">
                <a:latin typeface="Arial Black" panose="020B0A04020102020204" pitchFamily="34" charset="0"/>
              </a:rPr>
              <a:t>Build </a:t>
            </a:r>
            <a:r>
              <a:rPr lang="en-IN" sz="2000" b="1" dirty="0">
                <a:latin typeface="Arial Black" panose="020B0A04020102020204" pitchFamily="34" charset="0"/>
              </a:rPr>
              <a:t>AI + Data + Automation solutions for real hospitality problems</a:t>
            </a:r>
            <a:r>
              <a:rPr lang="en-IN" sz="2000" dirty="0">
                <a:latin typeface="Arial Black" panose="020B0A0402010202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0331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4F05-0AF1-9E92-FBA8-3B7DB00D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6-month roadmap</a:t>
            </a:r>
            <a:br>
              <a:rPr lang="en-IN" b="1" dirty="0">
                <a:latin typeface="Arial Black" panose="020B0A040201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75A7-7579-941E-A3E6-3E9C3EADA53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FF00"/>
                </a:solidFill>
                <a:latin typeface="Arial Black" panose="020B0A04020102020204" pitchFamily="34" charset="0"/>
              </a:rPr>
              <a:t>Month 1</a:t>
            </a:r>
            <a:b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</a:br>
            <a: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  <a:t>Python + Git + APIs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FF00"/>
                </a:solidFill>
                <a:latin typeface="Arial Black" panose="020B0A04020102020204" pitchFamily="34" charset="0"/>
              </a:rPr>
              <a:t>Month 2</a:t>
            </a:r>
            <a:b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</a:br>
            <a: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  <a:t>SQL + Pandas + data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FF00"/>
                </a:solidFill>
                <a:latin typeface="Arial Black" panose="020B0A04020102020204" pitchFamily="34" charset="0"/>
              </a:rPr>
              <a:t>Month 3</a:t>
            </a:r>
            <a:b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</a:br>
            <a: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  <a:t>Power BI + hospitality analytics project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FF00"/>
                </a:solidFill>
                <a:latin typeface="Arial Black" panose="020B0A04020102020204" pitchFamily="34" charset="0"/>
              </a:rPr>
              <a:t>Month 4</a:t>
            </a:r>
            <a:b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</a:br>
            <a: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  <a:t>LLMs + AI APIs + prompt engineering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FF00"/>
                </a:solidFill>
                <a:latin typeface="Arial Black" panose="020B0A04020102020204" pitchFamily="34" charset="0"/>
              </a:rPr>
              <a:t>Month 5</a:t>
            </a:r>
            <a:b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</a:br>
            <a: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  <a:t>RAG + AI application project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FF00"/>
                </a:solidFill>
                <a:latin typeface="Arial Black" panose="020B0A04020102020204" pitchFamily="34" charset="0"/>
              </a:rPr>
              <a:t>Month 6</a:t>
            </a:r>
            <a:b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</a:br>
            <a: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  <a:t>AI agents + automation + hospitality use case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64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9C19F9-E880-A97B-15DA-3B86AA5DC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3556328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FF0000"/>
                </a:solidFill>
                <a:latin typeface="Arial Black" panose="020B0A04020102020204" pitchFamily="34" charset="0"/>
              </a:rPr>
              <a:t>After six months, don't just say ‘I learned AI.’ You should be able to show </a:t>
            </a:r>
            <a:r>
              <a:rPr lang="en-IN" sz="4400" dirty="0">
                <a:solidFill>
                  <a:srgbClr val="00B050"/>
                </a:solidFill>
                <a:latin typeface="Arial Black" panose="020B0A04020102020204" pitchFamily="34" charset="0"/>
              </a:rPr>
              <a:t>3–4 working solutions </a:t>
            </a:r>
            <a:r>
              <a:rPr lang="en-IN" sz="4400" dirty="0">
                <a:solidFill>
                  <a:srgbClr val="FF0000"/>
                </a:solidFill>
                <a:latin typeface="Arial Black" panose="020B0A04020102020204" pitchFamily="34" charset="0"/>
              </a:rPr>
              <a:t>that solve actual hospitality problems.</a:t>
            </a:r>
          </a:p>
        </p:txBody>
      </p:sp>
    </p:spTree>
    <p:extLst>
      <p:ext uri="{BB962C8B-B14F-4D97-AF65-F5344CB8AC3E}">
        <p14:creationId xmlns:p14="http://schemas.microsoft.com/office/powerpoint/2010/main" val="3402843646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110</TotalTime>
  <Words>458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Arial Black</vt:lpstr>
      <vt:lpstr>Arial Nova Light</vt:lpstr>
      <vt:lpstr>Arial Rounded MT Bold</vt:lpstr>
      <vt:lpstr>Wingdings</vt:lpstr>
      <vt:lpstr>Dark Gradient</vt:lpstr>
      <vt:lpstr>What you already have?</vt:lpstr>
      <vt:lpstr>“Your goal is not to compete with a fresher trying to become an ML engineer.”</vt:lpstr>
      <vt:lpstr>You Tell me:</vt:lpstr>
      <vt:lpstr>Path 1 — AI/Automation Business Leader </vt:lpstr>
      <vt:lpstr>Path 2 — AI/Automation Solution Builder </vt:lpstr>
      <vt:lpstr>Path 3 — Data/BI Leadership</vt:lpstr>
      <vt:lpstr>🐍 Layer 1: Python for AI &amp; Automation </vt:lpstr>
      <vt:lpstr>AI + Automation</vt:lpstr>
      <vt:lpstr>AI Reservation Assistant</vt:lpstr>
      <vt:lpstr>Practical Project Roadmap</vt:lpstr>
      <vt:lpstr>6-month roadmap </vt:lpstr>
      <vt:lpstr>After six months, don't just say ‘I learned AI.’ You should be able to show 3–4 working solutions that solve actual hospitality problems.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Benisha Murugan</dc:creator>
  <cp:lastModifiedBy>Benisha Murugan</cp:lastModifiedBy>
  <cp:revision>1</cp:revision>
  <dcterms:created xsi:type="dcterms:W3CDTF">2026-09-16T08:18:46Z</dcterms:created>
  <dcterms:modified xsi:type="dcterms:W3CDTF">2026-09-16T10:09:41Z</dcterms:modified>
</cp:coreProperties>
</file>